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Candara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6" roundtripDataSignature="AMtx7mgopXNa0A4dRibdIpI6PXlQkTYk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Candara-bold.fntdata"/><Relationship Id="rId12" Type="http://schemas.openxmlformats.org/officeDocument/2006/relationships/font" Target="fonts/Candara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Candara-boldItalic.fntdata"/><Relationship Id="rId14" Type="http://schemas.openxmlformats.org/officeDocument/2006/relationships/font" Target="fonts/Candara-italic.fntdata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e4cf41860_0_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be4cf41860_0_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/>
          <p:nvPr/>
        </p:nvSpPr>
        <p:spPr>
          <a:xfrm>
            <a:off x="0" y="2825016"/>
            <a:ext cx="12188952" cy="3180930"/>
          </a:xfrm>
          <a:prstGeom prst="rect">
            <a:avLst/>
          </a:prstGeom>
          <a:solidFill>
            <a:srgbClr val="262626">
              <a:alpha val="7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7" name="Google Shape;17;p7"/>
          <p:cNvSpPr/>
          <p:nvPr/>
        </p:nvSpPr>
        <p:spPr>
          <a:xfrm>
            <a:off x="0" y="3075709"/>
            <a:ext cx="12188952" cy="263929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8" name="Google Shape;18;p7"/>
          <p:cNvSpPr txBox="1"/>
          <p:nvPr>
            <p:ph type="ctrTitle"/>
          </p:nvPr>
        </p:nvSpPr>
        <p:spPr>
          <a:xfrm>
            <a:off x="1066800" y="3165763"/>
            <a:ext cx="10058400" cy="17110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onsolas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" type="subTitle"/>
          </p:nvPr>
        </p:nvSpPr>
        <p:spPr>
          <a:xfrm>
            <a:off x="1066800" y="4953000"/>
            <a:ext cx="10058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lvl="1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8"/>
          <p:cNvSpPr txBox="1"/>
          <p:nvPr>
            <p:ph type="title"/>
          </p:nvPr>
        </p:nvSpPr>
        <p:spPr>
          <a:xfrm>
            <a:off x="1524000" y="45720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" type="body"/>
          </p:nvPr>
        </p:nvSpPr>
        <p:spPr>
          <a:xfrm>
            <a:off x="1524000" y="1828800"/>
            <a:ext cx="914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8"/>
          <p:cNvSpPr txBox="1"/>
          <p:nvPr>
            <p:ph idx="11" type="ftr"/>
          </p:nvPr>
        </p:nvSpPr>
        <p:spPr>
          <a:xfrm>
            <a:off x="1524000" y="6362700"/>
            <a:ext cx="6881553" cy="257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8"/>
          <p:cNvSpPr txBox="1"/>
          <p:nvPr>
            <p:ph idx="10" type="dt"/>
          </p:nvPr>
        </p:nvSpPr>
        <p:spPr>
          <a:xfrm>
            <a:off x="8610600" y="6362700"/>
            <a:ext cx="990600" cy="257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2" type="sldNum"/>
          </p:nvPr>
        </p:nvSpPr>
        <p:spPr>
          <a:xfrm>
            <a:off x="9829800" y="6362700"/>
            <a:ext cx="838200" cy="257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9"/>
          <p:cNvSpPr txBox="1"/>
          <p:nvPr>
            <p:ph type="title"/>
          </p:nvPr>
        </p:nvSpPr>
        <p:spPr>
          <a:xfrm>
            <a:off x="1524000" y="45720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"/>
          <p:cNvSpPr txBox="1"/>
          <p:nvPr>
            <p:ph idx="1" type="body"/>
          </p:nvPr>
        </p:nvSpPr>
        <p:spPr>
          <a:xfrm>
            <a:off x="1524000" y="1825625"/>
            <a:ext cx="4343400" cy="427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 sz="1800"/>
            </a:lvl2pPr>
            <a:lvl3pPr indent="-3302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9pPr>
          </a:lstStyle>
          <a:p/>
        </p:txBody>
      </p:sp>
      <p:sp>
        <p:nvSpPr>
          <p:cNvPr id="29" name="Google Shape;29;p9"/>
          <p:cNvSpPr txBox="1"/>
          <p:nvPr>
            <p:ph idx="2" type="body"/>
          </p:nvPr>
        </p:nvSpPr>
        <p:spPr>
          <a:xfrm>
            <a:off x="6324600" y="1825625"/>
            <a:ext cx="4343400" cy="427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 sz="1800"/>
            </a:lvl2pPr>
            <a:lvl3pPr indent="-3302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9pPr>
          </a:lstStyle>
          <a:p/>
        </p:txBody>
      </p:sp>
      <p:sp>
        <p:nvSpPr>
          <p:cNvPr id="30" name="Google Shape;30;p9"/>
          <p:cNvSpPr txBox="1"/>
          <p:nvPr>
            <p:ph idx="11" type="ftr"/>
          </p:nvPr>
        </p:nvSpPr>
        <p:spPr>
          <a:xfrm>
            <a:off x="1524000" y="6362700"/>
            <a:ext cx="6881553" cy="257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0" type="dt"/>
          </p:nvPr>
        </p:nvSpPr>
        <p:spPr>
          <a:xfrm>
            <a:off x="8610600" y="6362700"/>
            <a:ext cx="990600" cy="257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12" type="sldNum"/>
          </p:nvPr>
        </p:nvSpPr>
        <p:spPr>
          <a:xfrm>
            <a:off x="9829800" y="6362700"/>
            <a:ext cx="838200" cy="257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/>
          <p:nvPr>
            <p:ph type="title"/>
          </p:nvPr>
        </p:nvSpPr>
        <p:spPr>
          <a:xfrm>
            <a:off x="1524000" y="45720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" type="body"/>
          </p:nvPr>
        </p:nvSpPr>
        <p:spPr>
          <a:xfrm>
            <a:off x="1527048" y="1828800"/>
            <a:ext cx="4343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36" name="Google Shape;36;p10"/>
          <p:cNvSpPr txBox="1"/>
          <p:nvPr>
            <p:ph idx="2" type="body"/>
          </p:nvPr>
        </p:nvSpPr>
        <p:spPr>
          <a:xfrm>
            <a:off x="1527048" y="2514600"/>
            <a:ext cx="4343400" cy="3581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 sz="1800"/>
            </a:lvl2pPr>
            <a:lvl3pPr indent="-3302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9pPr>
          </a:lstStyle>
          <a:p/>
        </p:txBody>
      </p:sp>
      <p:sp>
        <p:nvSpPr>
          <p:cNvPr id="37" name="Google Shape;37;p10"/>
          <p:cNvSpPr txBox="1"/>
          <p:nvPr>
            <p:ph idx="3" type="body"/>
          </p:nvPr>
        </p:nvSpPr>
        <p:spPr>
          <a:xfrm>
            <a:off x="6327648" y="1828800"/>
            <a:ext cx="4343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38" name="Google Shape;38;p10"/>
          <p:cNvSpPr txBox="1"/>
          <p:nvPr>
            <p:ph idx="4" type="body"/>
          </p:nvPr>
        </p:nvSpPr>
        <p:spPr>
          <a:xfrm>
            <a:off x="6327648" y="2514600"/>
            <a:ext cx="4343400" cy="3581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 sz="1800"/>
            </a:lvl2pPr>
            <a:lvl3pPr indent="-3302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9pPr>
          </a:lstStyle>
          <a:p/>
        </p:txBody>
      </p:sp>
      <p:sp>
        <p:nvSpPr>
          <p:cNvPr id="39" name="Google Shape;39;p10"/>
          <p:cNvSpPr txBox="1"/>
          <p:nvPr>
            <p:ph idx="11" type="ftr"/>
          </p:nvPr>
        </p:nvSpPr>
        <p:spPr>
          <a:xfrm>
            <a:off x="1524000" y="6362700"/>
            <a:ext cx="6881553" cy="257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10" type="dt"/>
          </p:nvPr>
        </p:nvSpPr>
        <p:spPr>
          <a:xfrm>
            <a:off x="8610600" y="6362700"/>
            <a:ext cx="990600" cy="257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9829800" y="6362700"/>
            <a:ext cx="838200" cy="257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type="title"/>
          </p:nvPr>
        </p:nvSpPr>
        <p:spPr>
          <a:xfrm>
            <a:off x="1524000" y="1828800"/>
            <a:ext cx="91440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onsolas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1524000" y="4589463"/>
            <a:ext cx="9144000" cy="1506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type="title"/>
          </p:nvPr>
        </p:nvSpPr>
        <p:spPr>
          <a:xfrm>
            <a:off x="1524000" y="45720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1" type="ftr"/>
          </p:nvPr>
        </p:nvSpPr>
        <p:spPr>
          <a:xfrm>
            <a:off x="1524000" y="6362700"/>
            <a:ext cx="6881553" cy="257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0" type="dt"/>
          </p:nvPr>
        </p:nvSpPr>
        <p:spPr>
          <a:xfrm>
            <a:off x="8610600" y="6362700"/>
            <a:ext cx="990600" cy="257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9829800" y="6362700"/>
            <a:ext cx="838200" cy="257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1" type="ftr"/>
          </p:nvPr>
        </p:nvSpPr>
        <p:spPr>
          <a:xfrm>
            <a:off x="1524000" y="6362700"/>
            <a:ext cx="6881553" cy="257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0" type="dt"/>
          </p:nvPr>
        </p:nvSpPr>
        <p:spPr>
          <a:xfrm>
            <a:off x="8610600" y="6362700"/>
            <a:ext cx="990600" cy="257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9829800" y="6362700"/>
            <a:ext cx="838200" cy="257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8002587" y="1600200"/>
            <a:ext cx="3122613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Consolas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760412" y="762000"/>
            <a:ext cx="64008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 sz="1800"/>
            </a:lvl2pPr>
            <a:lvl3pPr indent="-3302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8001039" y="3429000"/>
            <a:ext cx="3124161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1524000" y="6362700"/>
            <a:ext cx="6881553" cy="257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8610600" y="6362700"/>
            <a:ext cx="990600" cy="257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9829800" y="6362700"/>
            <a:ext cx="838200" cy="257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7997952" y="1600200"/>
            <a:ext cx="312724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Consolas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781251" y="777240"/>
            <a:ext cx="6400800" cy="530352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7997952" y="3429000"/>
            <a:ext cx="312724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descr="An empty placeholder to add an image. Click on the placeholder and select the image that you wish to add." id="65" name="Google Shape;65;p15"/>
          <p:cNvSpPr/>
          <p:nvPr/>
        </p:nvSpPr>
        <p:spPr>
          <a:xfrm>
            <a:off x="644091" y="640080"/>
            <a:ext cx="6675120" cy="5577840"/>
          </a:xfrm>
          <a:prstGeom prst="rect">
            <a:avLst/>
          </a:prstGeom>
          <a:solidFill>
            <a:srgbClr val="000000"/>
          </a:solidFill>
          <a:ln cap="flat" cmpd="sng" w="1016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1524000" y="6362700"/>
            <a:ext cx="6881553" cy="257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0" type="dt"/>
          </p:nvPr>
        </p:nvSpPr>
        <p:spPr>
          <a:xfrm>
            <a:off x="8610600" y="6362700"/>
            <a:ext cx="990600" cy="257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9829800" y="6362700"/>
            <a:ext cx="838200" cy="257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1524000" y="45720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" type="body"/>
          </p:nvPr>
        </p:nvSpPr>
        <p:spPr>
          <a:xfrm rot="5400000">
            <a:off x="3962400" y="-609600"/>
            <a:ext cx="4267200" cy="91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1524000" y="6362700"/>
            <a:ext cx="6881553" cy="257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0" type="dt"/>
          </p:nvPr>
        </p:nvSpPr>
        <p:spPr>
          <a:xfrm>
            <a:off x="8610600" y="6362700"/>
            <a:ext cx="990600" cy="257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2" type="sldNum"/>
          </p:nvPr>
        </p:nvSpPr>
        <p:spPr>
          <a:xfrm>
            <a:off x="9829800" y="6362700"/>
            <a:ext cx="838200" cy="257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 rot="5400000">
            <a:off x="6877049" y="2305050"/>
            <a:ext cx="5638801" cy="19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" type="body"/>
          </p:nvPr>
        </p:nvSpPr>
        <p:spPr>
          <a:xfrm rot="5400000">
            <a:off x="2228850" y="-247650"/>
            <a:ext cx="5638801" cy="70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1524000" y="6362700"/>
            <a:ext cx="6881553" cy="257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0" type="dt"/>
          </p:nvPr>
        </p:nvSpPr>
        <p:spPr>
          <a:xfrm>
            <a:off x="8610600" y="6362700"/>
            <a:ext cx="990600" cy="257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9829800" y="6362700"/>
            <a:ext cx="838200" cy="257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title"/>
          </p:nvPr>
        </p:nvSpPr>
        <p:spPr>
          <a:xfrm>
            <a:off x="1524000" y="45720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Consolas"/>
              <a:buNone/>
              <a:defRPr b="0" i="0" sz="3400" u="none" cap="none" strike="noStrike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6"/>
          <p:cNvSpPr txBox="1"/>
          <p:nvPr>
            <p:ph idx="1" type="body"/>
          </p:nvPr>
        </p:nvSpPr>
        <p:spPr>
          <a:xfrm>
            <a:off x="1524000" y="1828800"/>
            <a:ext cx="914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D8D8D8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D8D8D8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D8D8D8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D8D8D8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D8D8D8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/>
        </p:txBody>
      </p:sp>
      <p:sp>
        <p:nvSpPr>
          <p:cNvPr id="12" name="Google Shape;12;p6"/>
          <p:cNvSpPr txBox="1"/>
          <p:nvPr>
            <p:ph idx="11" type="ftr"/>
          </p:nvPr>
        </p:nvSpPr>
        <p:spPr>
          <a:xfrm>
            <a:off x="1524000" y="6362700"/>
            <a:ext cx="6881553" cy="257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rgbClr val="D8D8D8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/>
        </p:txBody>
      </p:sp>
      <p:sp>
        <p:nvSpPr>
          <p:cNvPr id="13" name="Google Shape;13;p6"/>
          <p:cNvSpPr txBox="1"/>
          <p:nvPr>
            <p:ph idx="10" type="dt"/>
          </p:nvPr>
        </p:nvSpPr>
        <p:spPr>
          <a:xfrm>
            <a:off x="8610600" y="6362700"/>
            <a:ext cx="990600" cy="257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rgbClr val="D8D8D8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/>
        </p:txBody>
      </p:sp>
      <p:sp>
        <p:nvSpPr>
          <p:cNvPr id="14" name="Google Shape;14;p6"/>
          <p:cNvSpPr txBox="1"/>
          <p:nvPr>
            <p:ph idx="12" type="sldNum"/>
          </p:nvPr>
        </p:nvSpPr>
        <p:spPr>
          <a:xfrm>
            <a:off x="9829800" y="6362700"/>
            <a:ext cx="838200" cy="257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D8D8D8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D8D8D8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D8D8D8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D8D8D8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D8D8D8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D8D8D8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D8D8D8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D8D8D8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D8D8D8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15.jp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Relationship Id="rId4" Type="http://schemas.openxmlformats.org/officeDocument/2006/relationships/image" Target="../media/image2.png"/><Relationship Id="rId5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jpg"/><Relationship Id="rId4" Type="http://schemas.openxmlformats.org/officeDocument/2006/relationships/image" Target="../media/image11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Relationship Id="rId4" Type="http://schemas.openxmlformats.org/officeDocument/2006/relationships/image" Target="../media/image13.jp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 txBox="1"/>
          <p:nvPr>
            <p:ph type="ctrTitle"/>
          </p:nvPr>
        </p:nvSpPr>
        <p:spPr>
          <a:xfrm>
            <a:off x="251850" y="3399300"/>
            <a:ext cx="10058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Consolas"/>
              <a:buNone/>
            </a:pPr>
            <a:r>
              <a:rPr lang="en-US" sz="4800">
                <a:solidFill>
                  <a:schemeClr val="accent1"/>
                </a:solidFill>
              </a:rPr>
              <a:t>Bot Candy Crush</a:t>
            </a:r>
            <a:endParaRPr sz="4800">
              <a:solidFill>
                <a:schemeClr val="accent1"/>
              </a:solidFill>
            </a:endParaRPr>
          </a:p>
        </p:txBody>
      </p:sp>
      <p:sp>
        <p:nvSpPr>
          <p:cNvPr id="86" name="Google Shape;86;p1"/>
          <p:cNvSpPr txBox="1"/>
          <p:nvPr>
            <p:ph idx="1" type="subTitle"/>
          </p:nvPr>
        </p:nvSpPr>
        <p:spPr>
          <a:xfrm>
            <a:off x="335800" y="4483607"/>
            <a:ext cx="10058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Proiect realizat de Antonescu Denis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87" name="Google Shape;87;p1" title="blue archive mika absolute cinem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7500" y="2205625"/>
            <a:ext cx="6502825" cy="366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" title="touhou fumo god let me live so it's everyone's problem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3150" y="211100"/>
            <a:ext cx="3896550" cy="281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" title="sirin dor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200" y="6067125"/>
            <a:ext cx="800726" cy="6775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871875" y="6098150"/>
            <a:ext cx="390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000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rPr>
              <a:t>1</a:t>
            </a:r>
            <a:endParaRPr b="1" i="1" sz="30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>
          <a:xfrm>
            <a:off x="990600" y="304800"/>
            <a:ext cx="6858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onsolas"/>
              <a:buNone/>
            </a:pPr>
            <a:r>
              <a:rPr lang="en-US" sz="4000" u="sng"/>
              <a:t>Descrierea jocului</a:t>
            </a:r>
            <a:endParaRPr sz="4000" u="sng"/>
          </a:p>
        </p:txBody>
      </p:sp>
      <p:sp>
        <p:nvSpPr>
          <p:cNvPr id="96" name="Google Shape;96;p2"/>
          <p:cNvSpPr txBox="1"/>
          <p:nvPr>
            <p:ph idx="1" type="body"/>
          </p:nvPr>
        </p:nvSpPr>
        <p:spPr>
          <a:xfrm>
            <a:off x="381000" y="1447800"/>
            <a:ext cx="5551546" cy="39274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Joc de tip Candy Crush implementat în Python folosind librăria PyGameZero</a:t>
            </a:r>
            <a:endParaRPr sz="2400"/>
          </a:p>
          <a:p>
            <a:pPr indent="-228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Tabla de joc: 11 × 11 celule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Valorile sunt </a:t>
            </a:r>
            <a:r>
              <a:rPr lang="en-US" sz="2400"/>
              <a:t>inițializate</a:t>
            </a:r>
            <a:r>
              <a:rPr lang="en-US" sz="2400"/>
              <a:t> aleatoriu</a:t>
            </a:r>
            <a:endParaRPr sz="2400"/>
          </a:p>
          <a:p>
            <a:pPr indent="-228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Scopul este obținerea de a acumula 10.000 puncte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Include atât control manual (jucător), cât și un bot complet automat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La final se scriu rezultatele jocului într-un fișier csv</a:t>
            </a:r>
            <a:endParaRPr sz="2400"/>
          </a:p>
        </p:txBody>
      </p:sp>
      <p:pic>
        <p:nvPicPr>
          <p:cNvPr id="97" name="Google Shape;97;p2" title="anime honkai sirin amazed poi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2925" y="3704100"/>
            <a:ext cx="3240166" cy="297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75500" y="401650"/>
            <a:ext cx="4399349" cy="297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2" title="sirin dor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200" y="6067125"/>
            <a:ext cx="800726" cy="677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"/>
          <p:cNvSpPr txBox="1"/>
          <p:nvPr/>
        </p:nvSpPr>
        <p:spPr>
          <a:xfrm>
            <a:off x="871875" y="6098150"/>
            <a:ext cx="390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000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rPr>
              <a:t>2</a:t>
            </a:r>
            <a:endParaRPr b="1" i="1" sz="30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>
            <p:ph type="title"/>
          </p:nvPr>
        </p:nvSpPr>
        <p:spPr>
          <a:xfrm>
            <a:off x="5105400" y="-79375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Consolas"/>
              <a:buNone/>
            </a:pPr>
            <a:r>
              <a:rPr lang="en-US" u="sng"/>
              <a:t>Logica principală a jocului</a:t>
            </a:r>
            <a:endParaRPr/>
          </a:p>
        </p:txBody>
      </p:sp>
      <p:sp>
        <p:nvSpPr>
          <p:cNvPr id="106" name="Google Shape;106;p3"/>
          <p:cNvSpPr txBox="1"/>
          <p:nvPr>
            <p:ph idx="1" type="body"/>
          </p:nvPr>
        </p:nvSpPr>
        <p:spPr>
          <a:xfrm>
            <a:off x="4495800" y="1673225"/>
            <a:ext cx="4343400" cy="427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Jucătorul</a:t>
            </a:r>
            <a:r>
              <a:rPr lang="en-US"/>
              <a:t>/Botul face o mișcare, iar </a:t>
            </a:r>
            <a:r>
              <a:rPr lang="en-US"/>
              <a:t>dacă</a:t>
            </a:r>
            <a:r>
              <a:rPr lang="en-US"/>
              <a:t> acea mișcare nu e </a:t>
            </a:r>
            <a:r>
              <a:rPr lang="en-US"/>
              <a:t>validă</a:t>
            </a:r>
            <a:r>
              <a:rPr lang="en-US"/>
              <a:t> se revocă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Se caută și se golesc orice combinații valide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Eliminarea combinațiilor și calcularea scorului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Se coboară bomboane existente și se </a:t>
            </a:r>
            <a:r>
              <a:rPr lang="en-US"/>
              <a:t>adaugă</a:t>
            </a:r>
            <a:r>
              <a:rPr lang="en-US"/>
              <a:t> bomboane noi</a:t>
            </a:r>
            <a:endParaRPr/>
          </a:p>
          <a:p>
            <a:pPr indent="-101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07" name="Google Shape;107;p3"/>
          <p:cNvSpPr txBox="1"/>
          <p:nvPr>
            <p:ph idx="2" type="body"/>
          </p:nvPr>
        </p:nvSpPr>
        <p:spPr>
          <a:xfrm>
            <a:off x="8907025" y="1386450"/>
            <a:ext cx="3020700" cy="1748400"/>
          </a:xfrm>
          <a:prstGeom prst="rect">
            <a:avLst/>
          </a:prstGeom>
          <a:gradFill>
            <a:gsLst>
              <a:gs pos="0">
                <a:srgbClr val="9DD567"/>
              </a:gs>
              <a:gs pos="50000">
                <a:srgbClr val="91D549"/>
              </a:gs>
              <a:gs pos="100000">
                <a:srgbClr val="80C339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Combinatii Valide:</a:t>
            </a:r>
            <a:endParaRPr>
              <a:solidFill>
                <a:schemeClr val="lt1"/>
              </a:solidFill>
            </a:endParaRPr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rPr>
              <a:t>✔</a:t>
            </a:r>
            <a:r>
              <a:rPr lang="en-US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rPr>
              <a:t> </a:t>
            </a:r>
            <a:r>
              <a:rPr lang="en-US" sz="1600">
                <a:solidFill>
                  <a:schemeClr val="lt1"/>
                </a:solidFill>
              </a:rPr>
              <a:t>Lin</a:t>
            </a:r>
            <a:r>
              <a:rPr lang="en-US" sz="1600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rPr>
              <a:t>ii de 3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rPr>
              <a:t>✔ </a:t>
            </a:r>
            <a:r>
              <a:rPr lang="en-US" sz="1600">
                <a:solidFill>
                  <a:schemeClr val="lt1"/>
                </a:solidFill>
              </a:rPr>
              <a:t>Linii </a:t>
            </a:r>
            <a:r>
              <a:rPr lang="en-US" sz="1600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rPr>
              <a:t>de 4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rPr>
              <a:t>✔ </a:t>
            </a:r>
            <a:r>
              <a:rPr lang="en-US" sz="1600">
                <a:solidFill>
                  <a:schemeClr val="lt1"/>
                </a:solidFill>
              </a:rPr>
              <a:t>Linii </a:t>
            </a:r>
            <a:r>
              <a:rPr lang="en-US" sz="1600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rPr>
              <a:t>de 5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rPr>
              <a:t>✔ </a:t>
            </a:r>
            <a:r>
              <a:rPr lang="en-US" sz="1600">
                <a:solidFill>
                  <a:schemeClr val="lt1"/>
                </a:solidFill>
              </a:rPr>
              <a:t>Combinatii </a:t>
            </a:r>
            <a:r>
              <a:rPr lang="en-US" sz="1600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rPr>
              <a:t>speciale (T / L/+)</a:t>
            </a:r>
            <a:endParaRPr sz="1600"/>
          </a:p>
        </p:txBody>
      </p:sp>
      <p:pic>
        <p:nvPicPr>
          <p:cNvPr id="108" name="Google Shape;108;p3" title="blue archive hoshino plush dies from peak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45951" y="3716625"/>
            <a:ext cx="3181775" cy="248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3" title="sirin dor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200" y="6067125"/>
            <a:ext cx="800726" cy="6775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3"/>
          <p:cNvSpPr txBox="1"/>
          <p:nvPr/>
        </p:nvSpPr>
        <p:spPr>
          <a:xfrm>
            <a:off x="871875" y="6098150"/>
            <a:ext cx="390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000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rPr>
              <a:t>3</a:t>
            </a:r>
            <a:endParaRPr b="1" i="1" sz="30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pic>
        <p:nvPicPr>
          <p:cNvPr id="111" name="Google Shape;111;p3" title="anime vtuber gigi murin I'm the opposite of artificial intelligence I'm genuine stupidity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5500" y="940925"/>
            <a:ext cx="4027226" cy="4017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 txBox="1"/>
          <p:nvPr>
            <p:ph type="title"/>
          </p:nvPr>
        </p:nvSpPr>
        <p:spPr>
          <a:xfrm>
            <a:off x="324196" y="-22860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onsolas"/>
              <a:buNone/>
            </a:pPr>
            <a:r>
              <a:rPr lang="en-US" sz="4000" u="sng"/>
              <a:t>Bot automat</a:t>
            </a:r>
            <a:endParaRPr/>
          </a:p>
        </p:txBody>
      </p:sp>
      <p:sp>
        <p:nvSpPr>
          <p:cNvPr id="117" name="Google Shape;117;p4"/>
          <p:cNvSpPr txBox="1"/>
          <p:nvPr>
            <p:ph idx="1" type="body"/>
          </p:nvPr>
        </p:nvSpPr>
        <p:spPr>
          <a:xfrm>
            <a:off x="228600" y="1219200"/>
            <a:ext cx="7467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Ideea de bază: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        - Botul </a:t>
            </a:r>
            <a:r>
              <a:rPr lang="en-US"/>
              <a:t>analizează</a:t>
            </a:r>
            <a:r>
              <a:rPr lang="en-US"/>
              <a:t> tabla de joc pentru a identifica mutari care pot genera combinatii valide.</a:t>
            </a:r>
            <a:endParaRPr/>
          </a:p>
          <a:p>
            <a:pPr indent="-2286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Pasii principali: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       - Botul cauta linii de 2 bomboane identice (sunt permise suprapuneri)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       - Nu se cauta combinatii ce ofera scor mai mic decat combinatia </a:t>
            </a:r>
            <a:r>
              <a:rPr lang="en-US"/>
              <a:t>găsită</a:t>
            </a:r>
            <a:r>
              <a:rPr lang="en-US"/>
              <a:t> ce </a:t>
            </a:r>
            <a:r>
              <a:rPr lang="en-US"/>
              <a:t>oferă</a:t>
            </a:r>
            <a:r>
              <a:rPr lang="en-US"/>
              <a:t> cel mai mare scor </a:t>
            </a:r>
            <a:r>
              <a:rPr lang="en-US"/>
              <a:t>în</a:t>
            </a:r>
            <a:r>
              <a:rPr lang="en-US"/>
              <a:t> aceeași </a:t>
            </a:r>
            <a:r>
              <a:rPr lang="en-US"/>
              <a:t>iterație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       - Se alege cate un pivot </a:t>
            </a:r>
            <a:r>
              <a:rPr lang="en-US"/>
              <a:t>în</a:t>
            </a:r>
            <a:r>
              <a:rPr lang="en-US"/>
              <a:t> fiecare parte a liniei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       - Bazat pe bomboanele din jurul pivotului, se decide </a:t>
            </a:r>
            <a:r>
              <a:rPr lang="en-US"/>
              <a:t>dacă</a:t>
            </a:r>
            <a:r>
              <a:rPr lang="en-US"/>
              <a:t> o combinatie e posibila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       - Se alege doar combinatia care </a:t>
            </a:r>
            <a:r>
              <a:rPr lang="en-US"/>
              <a:t>oferă</a:t>
            </a:r>
            <a:r>
              <a:rPr lang="en-US"/>
              <a:t> cel mai mult scor</a:t>
            </a:r>
            <a:endParaRPr/>
          </a:p>
        </p:txBody>
      </p:sp>
      <p:pic>
        <p:nvPicPr>
          <p:cNvPr id="118" name="Google Shape;118;p4" title="i have hired this bird to stare at tennis ball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16475" y="233775"/>
            <a:ext cx="3493451" cy="3472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4" title="gmod nuke ayo wtf he doin with tha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29225" y="4110924"/>
            <a:ext cx="4191001" cy="23140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4" title="sirin dor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200" y="6067125"/>
            <a:ext cx="800726" cy="67752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4"/>
          <p:cNvSpPr txBox="1"/>
          <p:nvPr/>
        </p:nvSpPr>
        <p:spPr>
          <a:xfrm>
            <a:off x="871875" y="6098150"/>
            <a:ext cx="390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000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rPr>
              <a:t>4</a:t>
            </a:r>
            <a:endParaRPr b="1" i="1" sz="30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 txBox="1"/>
          <p:nvPr>
            <p:ph type="title"/>
          </p:nvPr>
        </p:nvSpPr>
        <p:spPr>
          <a:xfrm>
            <a:off x="3351525" y="362925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onsolas"/>
              <a:buNone/>
            </a:pPr>
            <a:r>
              <a:rPr lang="en-US" sz="3800" u="sng"/>
              <a:t>Librării folosite</a:t>
            </a:r>
            <a:endParaRPr sz="3800" u="sng"/>
          </a:p>
        </p:txBody>
      </p:sp>
      <p:sp>
        <p:nvSpPr>
          <p:cNvPr id="127" name="Google Shape;127;p5"/>
          <p:cNvSpPr txBox="1"/>
          <p:nvPr>
            <p:ph idx="2" type="body"/>
          </p:nvPr>
        </p:nvSpPr>
        <p:spPr>
          <a:xfrm>
            <a:off x="3505200" y="1981200"/>
            <a:ext cx="4800600" cy="3581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PyGameZero - Logică principală și creare fereastră</a:t>
            </a:r>
            <a:endParaRPr sz="2800"/>
          </a:p>
          <a:p>
            <a:pPr indent="-228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Random - Creare bomboane aleatorii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Os - Scriere fișiere</a:t>
            </a:r>
            <a:endParaRPr sz="2800"/>
          </a:p>
          <a:p>
            <a:pPr indent="-228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PIL – Prelucrare si afișare imagini</a:t>
            </a:r>
            <a:endParaRPr sz="2800"/>
          </a:p>
        </p:txBody>
      </p:sp>
      <p:pic>
        <p:nvPicPr>
          <p:cNvPr id="128" name="Google Shape;128;p5" title="pigeon bag russia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7150" y="362925"/>
            <a:ext cx="3581400" cy="3488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5" title="roblox this post is bussiness approve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0900" y="2249488"/>
            <a:ext cx="3200400" cy="31051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5" title="sirin dor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200" y="6067125"/>
            <a:ext cx="800726" cy="67752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5"/>
          <p:cNvSpPr txBox="1"/>
          <p:nvPr/>
        </p:nvSpPr>
        <p:spPr>
          <a:xfrm>
            <a:off x="871875" y="6098150"/>
            <a:ext cx="390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000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rPr>
              <a:t>5</a:t>
            </a:r>
            <a:endParaRPr b="1" i="1" sz="30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pic>
        <p:nvPicPr>
          <p:cNvPr id="132" name="Google Shape;132;p5" title="anime vtuber raya got that in me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672925" y="3990874"/>
            <a:ext cx="2701725" cy="270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e4cf41860_0_27"/>
          <p:cNvSpPr txBox="1"/>
          <p:nvPr>
            <p:ph type="title"/>
          </p:nvPr>
        </p:nvSpPr>
        <p:spPr>
          <a:xfrm>
            <a:off x="539850" y="243525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Consolas"/>
              <a:buNone/>
            </a:pPr>
            <a:r>
              <a:rPr lang="en-US" u="sng"/>
              <a:t>Limitări </a:t>
            </a:r>
            <a:r>
              <a:rPr lang="en-US" u="sng"/>
              <a:t>și îmbunătățiri</a:t>
            </a:r>
            <a:endParaRPr/>
          </a:p>
        </p:txBody>
      </p:sp>
      <p:sp>
        <p:nvSpPr>
          <p:cNvPr id="138" name="Google Shape;138;g3be4cf41860_0_27"/>
          <p:cNvSpPr txBox="1"/>
          <p:nvPr>
            <p:ph idx="1" type="body"/>
          </p:nvPr>
        </p:nvSpPr>
        <p:spPr>
          <a:xfrm>
            <a:off x="724550" y="1676975"/>
            <a:ext cx="4343400" cy="42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Botul </a:t>
            </a:r>
            <a:r>
              <a:rPr lang="en-US"/>
              <a:t>folosește</a:t>
            </a:r>
            <a:r>
              <a:rPr lang="en-US"/>
              <a:t> variabilele jocului ca sa ruleze, iar fara acces la acestea, botul nu </a:t>
            </a:r>
            <a:r>
              <a:rPr lang="en-US"/>
              <a:t>funcționează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Din acest motiv, </a:t>
            </a:r>
            <a:r>
              <a:rPr lang="en-US"/>
              <a:t>și</a:t>
            </a:r>
            <a:r>
              <a:rPr lang="en-US"/>
              <a:t> din cauza </a:t>
            </a:r>
            <a:r>
              <a:rPr lang="en-US"/>
              <a:t>librăriei</a:t>
            </a:r>
            <a:r>
              <a:rPr lang="en-US"/>
              <a:t> PyGameZero, botul a trebuit plasat </a:t>
            </a:r>
            <a:r>
              <a:rPr lang="en-US"/>
              <a:t>în</a:t>
            </a:r>
            <a:r>
              <a:rPr lang="en-US"/>
              <a:t> </a:t>
            </a:r>
            <a:r>
              <a:rPr lang="en-US"/>
              <a:t>același</a:t>
            </a:r>
            <a:r>
              <a:rPr lang="en-US"/>
              <a:t> </a:t>
            </a:r>
            <a:r>
              <a:rPr lang="en-US"/>
              <a:t>fișier</a:t>
            </a:r>
            <a:r>
              <a:rPr lang="en-US"/>
              <a:t> cu codul jocului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Se repeta cod asemanator, dar din cauza </a:t>
            </a:r>
            <a:r>
              <a:rPr lang="en-US"/>
              <a:t>diferențelor</a:t>
            </a:r>
            <a:r>
              <a:rPr lang="en-US"/>
              <a:t> mici </a:t>
            </a:r>
            <a:r>
              <a:rPr lang="en-US"/>
              <a:t>în</a:t>
            </a:r>
            <a:r>
              <a:rPr lang="en-US"/>
              <a:t> sintaxa, nu se pot combina </a:t>
            </a:r>
            <a:r>
              <a:rPr lang="en-US"/>
              <a:t>într-o</a:t>
            </a:r>
            <a:r>
              <a:rPr lang="en-US"/>
              <a:t> singura </a:t>
            </a:r>
            <a:r>
              <a:rPr lang="en-US"/>
              <a:t>funcție</a:t>
            </a:r>
            <a:endParaRPr/>
          </a:p>
          <a:p>
            <a:pPr indent="-101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139" name="Google Shape;139;g3be4cf41860_0_27" title="anime vtuber fubuki flute music stop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4850" y="243525"/>
            <a:ext cx="3744199" cy="3744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g3be4cf41860_0_27" title="IMG_20251130_025130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39725" y="4148449"/>
            <a:ext cx="4498408" cy="260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g3be4cf41860_0_27" title="sirin dor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200" y="6067125"/>
            <a:ext cx="800726" cy="67752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g3be4cf41860_0_27"/>
          <p:cNvSpPr txBox="1"/>
          <p:nvPr/>
        </p:nvSpPr>
        <p:spPr>
          <a:xfrm>
            <a:off x="871875" y="6098150"/>
            <a:ext cx="390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000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rPr>
              <a:t>6</a:t>
            </a:r>
            <a:endParaRPr b="1" i="1" sz="30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TechComputer">
      <a:dk1>
        <a:srgbClr val="000000"/>
      </a:dk1>
      <a:lt1>
        <a:srgbClr val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ch Computer 16x9">
  <a:themeElements>
    <a:clrScheme name="TechComputer">
      <a:dk1>
        <a:srgbClr val="000000"/>
      </a:dk1>
      <a:lt1>
        <a:srgbClr val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2026-01-19T08:16:25Z</dcterms:created>
  <dc:creator>Microsoft account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